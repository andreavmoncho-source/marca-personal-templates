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transfor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9525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i="1">
                <a:solidFill>
                  <a:srgbClr val="F4F1EB"/>
                </a:solidFill>
                <a:latin typeface="Fraunces"/>
              </a:rPr>
              <a:t>( pilar )*</a:t>
            </a:r>
          </a:p>
          <a:p>
            <a:r>
              <a:rPr sz="2200" b="1">
                <a:solidFill>
                  <a:srgbClr val="F4F1EB"/>
                </a:solidFill>
                <a:latin typeface="Fraunces"/>
              </a:rPr>
              <a:t>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477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F4F1EB"/>
                </a:solidFill>
                <a:latin typeface="Inter"/>
              </a:rPr>
              <a:t>new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762500"/>
            <a:ext cx="8610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>
                <a:solidFill>
                  <a:srgbClr val="F4F1EB"/>
                </a:solidFill>
                <a:latin typeface="Fraunces"/>
              </a:rPr>
              <a:t>transforma la</a:t>
            </a:r>
          </a:p>
          <a:p>
            <a:pPr algn="l">
              <a:lnSpc>
                <a:spcPct val="105000"/>
              </a:lnSpc>
            </a:pPr>
            <a:r>
              <a:rPr sz="6400">
                <a:solidFill>
                  <a:srgbClr val="F4F1EB"/>
                </a:solidFill>
                <a:latin typeface="Fraunces"/>
              </a:rPr>
              <a:t>percepción de tu</a:t>
            </a:r>
          </a:p>
          <a:p>
            <a:pPr algn="l">
              <a:lnSpc>
                <a:spcPct val="105000"/>
              </a:lnSpc>
            </a:pPr>
            <a:r>
              <a:rPr sz="6400">
                <a:solidFill>
                  <a:srgbClr val="F4F1EB"/>
                </a:solidFill>
                <a:latin typeface="Fraunces"/>
              </a:rPr>
              <a:t>negocio</a:t>
            </a:r>
          </a:p>
        </p:txBody>
      </p:sp>
      <p:sp>
        <p:nvSpPr>
          <p:cNvPr id="6" name="Oval 5"/>
          <p:cNvSpPr/>
          <p:nvPr/>
        </p:nvSpPr>
        <p:spPr>
          <a:xfrm>
            <a:off x="666750" y="5324475"/>
            <a:ext cx="4000500" cy="914400"/>
          </a:xfrm>
          <a:prstGeom prst="ellipse">
            <a:avLst/>
          </a:prstGeom>
          <a:noFill/>
          <a:ln w="38100">
            <a:solidFill>
              <a:srgbClr val="9A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0763250"/>
            <a:ext cx="861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1EB"/>
                </a:solidFill>
                <a:latin typeface="Inter"/>
              </a:rPr>
              <a:t>ESCRIBE  ·  TRANSFORMACIÓN  ·  PARA COMENZAR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18110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0" y="118110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4F1EB"/>
                </a:solidFill>
                <a:latin typeface="Inter"/>
              </a:rPr>
              <a:t>→ AGENDA ABIERTA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